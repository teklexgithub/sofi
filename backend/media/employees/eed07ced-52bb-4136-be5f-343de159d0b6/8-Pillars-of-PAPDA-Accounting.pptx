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3.svg" ContentType="image/sv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1.png" ContentType="image/png"/>
  <Override PartName="/ppt/media/image2.png" ContentType="image/png"/>
  <Override PartName="/ppt/media/image22.svg" ContentType="image/svg"/>
  <Override PartName="/ppt/media/image7.png" ContentType="image/png"/>
  <Override PartName="/ppt/media/image16.png" ContentType="image/png"/>
  <Override PartName="/ppt/media/image25.png" ContentType="image/png"/>
  <Override PartName="/ppt/media/image23.png" ContentType="image/png"/>
  <Override PartName="/ppt/media/image21.png" ContentType="image/png"/>
  <Override PartName="/ppt/media/image19.png" ContentType="image/png"/>
  <Override PartName="/ppt/media/image17.svg" ContentType="image/svg"/>
  <Override PartName="/ppt/media/image15.svg" ContentType="image/svg"/>
  <Override PartName="/ppt/media/image10.png" ContentType="image/png"/>
  <Override PartName="/ppt/media/image1.png" ContentType="image/png"/>
  <Override PartName="/ppt/media/image24.svg" ContentType="image/svg"/>
  <Override PartName="/ppt/media/image4.png" ContentType="image/png"/>
  <Override PartName="/ppt/media/image5.png" ContentType="image/png"/>
  <Override PartName="/ppt/media/image14.png" ContentType="image/png"/>
  <Override PartName="/ppt/media/image26.svg" ContentType="image/svg"/>
  <Override PartName="/ppt/media/image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9EE5C56-DD90-4F3F-A332-D84415266A3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94B9DB-582A-4411-BB20-0E6C1648816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5A88BD-1A15-415D-83D9-0D2580D3F3B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413AE0-7910-4CC0-9260-9272A826D64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CBC733-AA9D-4A22-8398-520C715B529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1FDE51-FE33-4DB4-81C9-2C7AFBBF187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D85FC2A-73E7-4F50-A145-4B02A0F38AA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1CE06E-B77F-4B98-B2DB-A4236CA9C2D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D69F08-7747-4595-9CA4-448EE9F98A0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4540E2-7138-436B-8E91-8D5430395E9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8CBC8F-B81B-4C42-A3C8-4A2B8CF935B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d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23.png"/><Relationship Id="rId5" Type="http://schemas.openxmlformats.org/officeDocument/2006/relationships/image" Target="../media/image24.svg"/><Relationship Id="rId6" Type="http://schemas.openxmlformats.org/officeDocument/2006/relationships/image" Target="../media/image25.png"/><Relationship Id="rId7" Type="http://schemas.openxmlformats.org/officeDocument/2006/relationships/image" Target="../media/image26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7" name="Text 0"/>
          <p:cNvSpPr/>
          <p:nvPr/>
        </p:nvSpPr>
        <p:spPr>
          <a:xfrm>
            <a:off x="793800" y="287280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8 Pillars of PAPDA Accounting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793800" y="4630680"/>
            <a:ext cx="75560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Complete life-cycle from legal setup to donor reporting — eight integrated pillars to configure Odoo 18 for PAPDA.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60" name="Text 0"/>
          <p:cNvSpPr/>
          <p:nvPr/>
        </p:nvSpPr>
        <p:spPr>
          <a:xfrm>
            <a:off x="793800" y="901440"/>
            <a:ext cx="7556040" cy="21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Pillar 1 — Fiscal Localization &amp; Company Data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793800" y="3368160"/>
            <a:ext cx="3664440" cy="2410560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762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1028160" y="36025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Localization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1028160" y="4092840"/>
            <a:ext cx="319536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Install Ethiopia package to load COA, tax rates (VAT/WHT) and legal report formats.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4685400" y="3368160"/>
            <a:ext cx="3664440" cy="2410560"/>
          </a:xfrm>
          <a:prstGeom prst="roundRect">
            <a:avLst>
              <a:gd name="adj" fmla="val 3952"/>
            </a:avLst>
          </a:prstGeom>
          <a:solidFill>
            <a:srgbClr val="f7edd4"/>
          </a:solidFill>
          <a:ln w="762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4919760" y="36025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Company Data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4919760" y="4092840"/>
            <a:ext cx="31957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Set PAPDA name, head office address, TIN, currency ETB, and upload logo for donor invoices.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793800" y="6005880"/>
            <a:ext cx="7556040" cy="1321920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1028160" y="62402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Warning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1028160" y="6730560"/>
            <a:ext cx="708732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Change localization only before any journal entries are posted.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793800" y="849960"/>
            <a:ext cx="114498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Pillar 2 — Fiscal Periods (The Calendar)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793800" y="2154240"/>
            <a:ext cx="8283600" cy="4970160"/>
          </a:xfrm>
          <a:prstGeom prst="rect">
            <a:avLst/>
          </a:prstGeom>
          <a:ln w="0">
            <a:noFill/>
          </a:ln>
        </p:spPr>
      </p:pic>
      <p:sp>
        <p:nvSpPr>
          <p:cNvPr id="72" name="Text 1"/>
          <p:cNvSpPr/>
          <p:nvPr/>
        </p:nvSpPr>
        <p:spPr>
          <a:xfrm>
            <a:off x="9639000" y="2992320"/>
            <a:ext cx="42048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Define Fiscal Year &amp; Lock Dates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9639000" y="3927600"/>
            <a:ext cx="420480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Set fiscal year end (e.g jan 1 – 31 dec,  or EFY ). Use Lock Dates (Journal Entries, Tax Return, All Users) to prevent post-close edits.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9639000" y="5583240"/>
            <a:ext cx="42048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Staggered fiscal years supported for donor-specific cycles.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793800" y="2022480"/>
            <a:ext cx="1208124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Pillar 3 — Chart of Accounts (Foundation)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793800" y="3184920"/>
            <a:ext cx="914400" cy="1143360"/>
          </a:xfrm>
          <a:prstGeom prst="rect">
            <a:avLst/>
          </a:prstGeom>
          <a:ln w="0">
            <a:noFill/>
          </a:ln>
        </p:spPr>
      </p:pic>
      <p:sp>
        <p:nvSpPr>
          <p:cNvPr id="77" name="Text 1"/>
          <p:cNvSpPr/>
          <p:nvPr/>
        </p:nvSpPr>
        <p:spPr>
          <a:xfrm>
            <a:off x="1992240" y="3184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Assets &amp; Banks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1992240" y="3675240"/>
            <a:ext cx="295992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Define asset codes (e.g, 120100 IT Hardware), bank accounts per project (110010, 110020, pool account).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Image 1" descr="preencoded.png"/>
          <p:cNvPicPr/>
          <p:nvPr/>
        </p:nvPicPr>
        <p:blipFill>
          <a:blip r:embed="rId2"/>
          <a:stretch/>
        </p:blipFill>
        <p:spPr>
          <a:xfrm>
            <a:off x="5235840" y="3184920"/>
            <a:ext cx="914400" cy="1143360"/>
          </a:xfrm>
          <a:prstGeom prst="rect">
            <a:avLst/>
          </a:prstGeom>
          <a:ln w="0">
            <a:noFill/>
          </a:ln>
        </p:spPr>
      </p:pic>
      <p:sp>
        <p:nvSpPr>
          <p:cNvPr id="80" name="Text 3"/>
          <p:cNvSpPr/>
          <p:nvPr/>
        </p:nvSpPr>
        <p:spPr>
          <a:xfrm>
            <a:off x="6434280" y="3184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Income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6434280" y="3675240"/>
            <a:ext cx="29599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Separate grant accounts (401000, 402000, donor-specific 404XXX) to ensure restricted fund tracking.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Image 2" descr="preencoded.png"/>
          <p:cNvPicPr/>
          <p:nvPr/>
        </p:nvPicPr>
        <p:blipFill>
          <a:blip r:embed="rId3"/>
          <a:stretch/>
        </p:blipFill>
        <p:spPr>
          <a:xfrm>
            <a:off x="9677880" y="3184920"/>
            <a:ext cx="914400" cy="1143360"/>
          </a:xfrm>
          <a:prstGeom prst="rect">
            <a:avLst/>
          </a:prstGeom>
          <a:ln w="0">
            <a:noFill/>
          </a:ln>
        </p:spPr>
      </p:pic>
      <p:sp>
        <p:nvSpPr>
          <p:cNvPr id="83" name="Text 5"/>
          <p:cNvSpPr/>
          <p:nvPr/>
        </p:nvSpPr>
        <p:spPr>
          <a:xfrm>
            <a:off x="10876320" y="3184920"/>
            <a:ext cx="29599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Expenses &amp; Liabilities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10876320" y="4029840"/>
            <a:ext cx="2959920" cy="21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Use detailed expense codes (601100–602400) and liabilities (Withholding, pension) with reconciliation where required.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1378080" y="509760"/>
            <a:ext cx="6538680" cy="5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201"/>
              </a:lnSpc>
              <a:tabLst>
                <a:tab algn="l" pos="0"/>
              </a:tabLst>
            </a:pPr>
            <a:r>
              <a:rPr b="0" lang="en-US" sz="335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Pillar 4 — Taxes (Compliance)</a:t>
            </a:r>
            <a:endParaRPr b="0" lang="en-US" sz="3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2869560" y="1308600"/>
            <a:ext cx="8890920" cy="5779800"/>
          </a:xfrm>
          <a:prstGeom prst="rect">
            <a:avLst/>
          </a:prstGeom>
          <a:ln w="0">
            <a:noFill/>
          </a:ln>
        </p:spPr>
      </p:pic>
      <p:sp>
        <p:nvSpPr>
          <p:cNvPr id="87" name="Text 1"/>
          <p:cNvSpPr/>
          <p:nvPr/>
        </p:nvSpPr>
        <p:spPr>
          <a:xfrm>
            <a:off x="3469680" y="4442040"/>
            <a:ext cx="267120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ibre Baskerville"/>
                <a:ea typeface="Libre Baskerville"/>
              </a:rPr>
              <a:t>WHT 3% (VAT‑inc)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6681600" y="2720520"/>
            <a:ext cx="220824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ibre Baskerville"/>
                <a:ea typeface="Libre Baskerville"/>
              </a:rPr>
              <a:t>WHT 30%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9270360" y="4251600"/>
            <a:ext cx="199440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ibre Baskerville"/>
                <a:ea typeface="Libre Baskerville"/>
              </a:rPr>
              <a:t>Non‑staff Per Diem 30%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6871680" y="5236200"/>
            <a:ext cx="1875600" cy="10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Libre Baskerville"/>
                <a:ea typeface="Libre Baskerville"/>
              </a:rPr>
              <a:t>Staff Per Diem Brackets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1378080" y="7235640"/>
            <a:ext cx="1187352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454240"/>
                </a:solidFill>
                <a:latin typeface="DM Sans"/>
                <a:ea typeface="DM Sans"/>
              </a:rPr>
              <a:t>Configure VAT 15%, WHT rules (WHT 3% as -2.6087% when VAT-inclusive), and staff/non-staff per diem sequences to automate deductions per legal brackets.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753480" y="1008360"/>
            <a:ext cx="8570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649"/>
              </a:lnSpc>
              <a:tabLst>
                <a:tab algn="l" pos="0"/>
              </a:tabLst>
            </a:pPr>
            <a:r>
              <a:rPr b="0" lang="en-US" sz="370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Pillar 5 — Journals (Filing Cabinets)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753480" y="2021040"/>
            <a:ext cx="8367480" cy="5020560"/>
          </a:xfrm>
          <a:prstGeom prst="rect">
            <a:avLst/>
          </a:prstGeom>
          <a:ln w="0">
            <a:noFill/>
          </a:ln>
        </p:spPr>
      </p:pic>
      <p:sp>
        <p:nvSpPr>
          <p:cNvPr id="94" name="Shape 1"/>
          <p:cNvSpPr/>
          <p:nvPr/>
        </p:nvSpPr>
        <p:spPr>
          <a:xfrm>
            <a:off x="9592920" y="2069640"/>
            <a:ext cx="4291200" cy="1441440"/>
          </a:xfrm>
          <a:prstGeom prst="roundRect">
            <a:avLst>
              <a:gd name="adj" fmla="val 5541"/>
            </a:avLst>
          </a:prstGeom>
          <a:solidFill>
            <a:srgbClr val="fffdfa"/>
          </a:solidFill>
          <a:ln w="2286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9806040" y="2282760"/>
            <a:ext cx="26078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Project Bank Journals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9806040" y="2739240"/>
            <a:ext cx="386532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54240"/>
                </a:solidFill>
                <a:latin typeface="DM Sans"/>
                <a:ea typeface="DM Sans"/>
              </a:rPr>
              <a:t>Create a separate bank journal per project (unique short code, currency per donor).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9592920" y="3670920"/>
            <a:ext cx="4291200" cy="1441440"/>
          </a:xfrm>
          <a:prstGeom prst="roundRect">
            <a:avLst>
              <a:gd name="adj" fmla="val 5541"/>
            </a:avLst>
          </a:prstGeom>
          <a:solidFill>
            <a:srgbClr val="fffdfa"/>
          </a:solidFill>
          <a:ln w="2286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9806040" y="3884040"/>
            <a:ext cx="237708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Pool &amp; Misc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9806040" y="4340520"/>
            <a:ext cx="386532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54240"/>
                </a:solidFill>
                <a:latin typeface="DM Sans"/>
                <a:ea typeface="DM Sans"/>
              </a:rPr>
              <a:t>Pool account for shared costs; Misc journal for accruals and adjustments.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9592920" y="5272200"/>
            <a:ext cx="4291200" cy="1720800"/>
          </a:xfrm>
          <a:prstGeom prst="roundRect">
            <a:avLst>
              <a:gd name="adj" fmla="val 4641"/>
            </a:avLst>
          </a:prstGeom>
          <a:solidFill>
            <a:srgbClr val="fffdfa"/>
          </a:solidFill>
          <a:ln w="2286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9806040" y="5484960"/>
            <a:ext cx="237708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Internal Transfers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9806040" y="5941800"/>
            <a:ext cx="3865320" cy="8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54240"/>
                </a:solidFill>
                <a:latin typeface="DM Sans"/>
                <a:ea typeface="DM Sans"/>
              </a:rPr>
              <a:t>Use Bank/Cash Clearing (100200) as bridge with two-step matching to leave bridge at zero.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835000"/>
          </a:xfrm>
          <a:prstGeom prst="rect">
            <a:avLst/>
          </a:prstGeom>
          <a:ln w="0">
            <a:noFill/>
          </a:ln>
        </p:spPr>
      </p:pic>
      <p:sp>
        <p:nvSpPr>
          <p:cNvPr id="104" name="Text 0"/>
          <p:cNvSpPr/>
          <p:nvPr/>
        </p:nvSpPr>
        <p:spPr>
          <a:xfrm>
            <a:off x="793800" y="3792960"/>
            <a:ext cx="114015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Pillar 6 — Analytic Accounting (3 Plans)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3800" y="48420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106" name="Text 1"/>
          <p:cNvSpPr/>
          <p:nvPr/>
        </p:nvSpPr>
        <p:spPr>
          <a:xfrm>
            <a:off x="793800" y="5692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Plan 1: Projects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793800" y="6183000"/>
            <a:ext cx="41583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Track each grant (e.g. DTP, GAVI) with one analytic account per project.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235840" y="48420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109" name="Text 3"/>
          <p:cNvSpPr/>
          <p:nvPr/>
        </p:nvSpPr>
        <p:spPr>
          <a:xfrm>
            <a:off x="5235840" y="5692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Plan 2: Activities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5235840" y="6183000"/>
            <a:ext cx="415836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47 budget lines as analytic accounts for activity-level tracking and spending limits.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677880" y="48420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112" name="Text 5"/>
          <p:cNvSpPr/>
          <p:nvPr/>
        </p:nvSpPr>
        <p:spPr>
          <a:xfrm>
            <a:off x="9677880" y="56923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Plan 3: Funding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9677880" y="6183000"/>
            <a:ext cx="415836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Record donor vs PAPDA co-fund splits using analytic distribution (e.g., 72% donor / 28% PAPDA).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793800" y="849960"/>
            <a:ext cx="116917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Pillar 7 — Transactions: Money In &amp; Out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793800" y="2154240"/>
            <a:ext cx="8283600" cy="4970160"/>
          </a:xfrm>
          <a:prstGeom prst="rect">
            <a:avLst/>
          </a:prstGeom>
          <a:ln w="0">
            <a:noFill/>
          </a:ln>
        </p:spPr>
      </p:pic>
      <p:sp>
        <p:nvSpPr>
          <p:cNvPr id="116" name="Shape 1"/>
          <p:cNvSpPr/>
          <p:nvPr/>
        </p:nvSpPr>
        <p:spPr>
          <a:xfrm>
            <a:off x="9639000" y="2681640"/>
            <a:ext cx="113040" cy="113040"/>
          </a:xfrm>
          <a:prstGeom prst="roundRect">
            <a:avLst>
              <a:gd name="adj" fmla="val 403360"/>
            </a:avLst>
          </a:prstGeom>
          <a:solidFill>
            <a:srgbClr val="b88e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920" bIns="349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9979200" y="25610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Money In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9979200" y="3142440"/>
            <a:ext cx="38646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Customer Invoices for donor grants (tag project); Customer Receipts for PAPDA co-funding (use 402000).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9639000" y="4805280"/>
            <a:ext cx="113040" cy="113040"/>
          </a:xfrm>
          <a:prstGeom prst="roundRect">
            <a:avLst>
              <a:gd name="adj" fmla="val 403360"/>
            </a:avLst>
          </a:prstGeom>
          <a:solidFill>
            <a:srgbClr val="b88e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4920" bIns="349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9979200" y="46846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Money Out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9979200" y="5265720"/>
            <a:ext cx="386460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Vendor Bills, Internal Transfers, Payroll. Always tag Activity + Funding analytic accounts and use project-specific payment journals.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835000"/>
          </a:xfrm>
          <a:prstGeom prst="rect">
            <a:avLst/>
          </a:prstGeom>
          <a:ln w="0">
            <a:noFill/>
          </a:ln>
        </p:spPr>
      </p:pic>
      <p:sp>
        <p:nvSpPr>
          <p:cNvPr id="123" name="Text 0"/>
          <p:cNvSpPr/>
          <p:nvPr/>
        </p:nvSpPr>
        <p:spPr>
          <a:xfrm>
            <a:off x="793800" y="3629520"/>
            <a:ext cx="130424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Pillar 8 — Reporting (Output for Donors &amp; Auditors)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793800" y="5387400"/>
            <a:ext cx="13042440" cy="2047680"/>
          </a:xfrm>
          <a:prstGeom prst="roundRect">
            <a:avLst>
              <a:gd name="adj" fmla="val 4652"/>
            </a:avLst>
          </a:prstGeom>
          <a:solidFill>
            <a:srgbClr val="f7edd4"/>
          </a:solidFill>
          <a:ln w="762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801360" y="5394960"/>
            <a:ext cx="4341960" cy="2032560"/>
          </a:xfrm>
          <a:prstGeom prst="roundRect">
            <a:avLst>
              <a:gd name="adj" fmla="val 4687"/>
            </a:avLst>
          </a:prstGeom>
          <a:solidFill>
            <a:srgbClr val="f7ed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1028160" y="56217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Financial Reports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1028160" y="6112080"/>
            <a:ext cx="38883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Balance Sheet, P&amp;L, Partner Ledger for legal, audit-ready statements.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5"/>
          <p:cNvSpPr/>
          <p:nvPr/>
        </p:nvSpPr>
        <p:spPr>
          <a:xfrm>
            <a:off x="5143680" y="5394960"/>
            <a:ext cx="4342320" cy="2032560"/>
          </a:xfrm>
          <a:prstGeom prst="rect">
            <a:avLst/>
          </a:prstGeom>
          <a:solidFill>
            <a:srgbClr val="f7ed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5143680" y="5394960"/>
            <a:ext cx="30240" cy="203256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5370840" y="56217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Analytic Reports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5370840" y="6112080"/>
            <a:ext cx="388872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Project Profitability and Budget vs Actual per activity (Planned, Committed, Achieved).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9486360" y="5394960"/>
            <a:ext cx="4342320" cy="2032560"/>
          </a:xfrm>
          <a:prstGeom prst="rect">
            <a:avLst/>
          </a:prstGeom>
          <a:solidFill>
            <a:srgbClr val="f7ed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9486360" y="5394960"/>
            <a:ext cx="30240" cy="203256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9713160" y="56217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Audit Tools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9713160" y="6112080"/>
            <a:ext cx="388872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54240"/>
                </a:solidFill>
                <a:latin typeface="DM Sans"/>
                <a:ea typeface="DM Sans"/>
              </a:rPr>
              <a:t>Journal Audit and Audit Trail (who did what and when) for donor assurance.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37" name="Text 0"/>
          <p:cNvSpPr/>
          <p:nvPr/>
        </p:nvSpPr>
        <p:spPr>
          <a:xfrm>
            <a:off x="6152040" y="874080"/>
            <a:ext cx="781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649"/>
              </a:lnSpc>
              <a:tabLst>
                <a:tab algn="l" pos="0"/>
              </a:tabLst>
            </a:pPr>
            <a:r>
              <a:rPr b="0" lang="en-US" sz="3700" spc="-1" strike="noStrike">
                <a:solidFill>
                  <a:srgbClr val="5c4e3d"/>
                </a:solidFill>
                <a:latin typeface="Libre Baskerville"/>
                <a:ea typeface="Libre Baskerville"/>
              </a:rPr>
              <a:t>Configuration Checklist &amp; Next Steps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"/>
          <p:cNvSpPr/>
          <p:nvPr/>
        </p:nvSpPr>
        <p:spPr>
          <a:xfrm>
            <a:off x="6152040" y="2301840"/>
            <a:ext cx="760320" cy="1332000"/>
          </a:xfrm>
          <a:prstGeom prst="roundRect">
            <a:avLst>
              <a:gd name="adj" fmla="val 360047"/>
            </a:avLst>
          </a:prstGeom>
          <a:solidFill>
            <a:srgbClr val="f7edd4"/>
          </a:solidFill>
          <a:ln w="762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389640" y="282528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140" name="Text 2"/>
          <p:cNvSpPr/>
          <p:nvPr/>
        </p:nvSpPr>
        <p:spPr>
          <a:xfrm>
            <a:off x="7072200" y="2491920"/>
            <a:ext cx="237708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Complete Setup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7072200" y="2884680"/>
            <a:ext cx="689220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54240"/>
                </a:solidFill>
                <a:latin typeface="DM Sans"/>
                <a:ea typeface="DM Sans"/>
              </a:rPr>
              <a:t>Install Ethiopia localization, load COA, set company data, define fiscal periods and lock dates.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6152040" y="3793320"/>
            <a:ext cx="760320" cy="1332000"/>
          </a:xfrm>
          <a:prstGeom prst="roundRect">
            <a:avLst>
              <a:gd name="adj" fmla="val 360047"/>
            </a:avLst>
          </a:prstGeom>
          <a:solidFill>
            <a:srgbClr val="f7edd4"/>
          </a:solidFill>
          <a:ln w="762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389640" y="43167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144" name="Text 5"/>
          <p:cNvSpPr/>
          <p:nvPr/>
        </p:nvSpPr>
        <p:spPr>
          <a:xfrm>
            <a:off x="7072200" y="3983760"/>
            <a:ext cx="332280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Configure Taxes &amp; Journals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7072200" y="4376520"/>
            <a:ext cx="689220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54240"/>
                </a:solidFill>
                <a:latin typeface="DM Sans"/>
                <a:ea typeface="DM Sans"/>
              </a:rPr>
              <a:t>Create VAT/WHT rules (including -2.6087% WHT incl. VAT), and bank journals per project with payment sequences.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6152040" y="5285160"/>
            <a:ext cx="760320" cy="1332000"/>
          </a:xfrm>
          <a:prstGeom prst="roundRect">
            <a:avLst>
              <a:gd name="adj" fmla="val 360047"/>
            </a:avLst>
          </a:prstGeom>
          <a:solidFill>
            <a:srgbClr val="f7edd4"/>
          </a:solidFill>
          <a:ln w="7620">
            <a:solidFill>
              <a:srgbClr val="ddd3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389640" y="580860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148" name="Text 8"/>
          <p:cNvSpPr/>
          <p:nvPr/>
        </p:nvSpPr>
        <p:spPr>
          <a:xfrm>
            <a:off x="7072200" y="5475240"/>
            <a:ext cx="33026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850" spc="-1" strike="noStrike">
                <a:solidFill>
                  <a:srgbClr val="454240"/>
                </a:solidFill>
                <a:latin typeface="Libre Baskerville"/>
                <a:ea typeface="Libre Baskerville"/>
              </a:rPr>
              <a:t>Enable Analytics &amp; Reports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7072200" y="5868000"/>
            <a:ext cx="689220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54240"/>
                </a:solidFill>
                <a:latin typeface="DM Sans"/>
                <a:ea typeface="DM Sans"/>
              </a:rPr>
              <a:t>Create 3 analytic plans (Projects, Activities — 47 lines, Funding), set budgets, and verify Budget vs Actual reporting.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6152040" y="6796440"/>
            <a:ext cx="7812360" cy="55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454240"/>
                </a:solidFill>
                <a:latin typeface="DM Sans"/>
                <a:ea typeface="DM Sans"/>
              </a:rPr>
              <a:t>Prioritize initial localization before posting entries, train accountants on analytic distribution and lock-date discipline to secure donor confidence.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2026-02-10T20:53:19Z</dcterms:created>
  <dc:creator/>
  <dc:description/>
  <dc:language>en-US</dc:language>
  <cp:lastModifiedBy/>
  <dcterms:modified xsi:type="dcterms:W3CDTF">2026-02-11T12:23:29Z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